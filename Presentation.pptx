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64008" cy="53035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obot_a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09728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13716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D4AA"/>
                </a:solidFill>
                <a:latin typeface="Arial Black"/>
              </a:defRPr>
            </a:pPr>
            <a:r>
              <a:t>ROS2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Arial Black"/>
              </a:defRPr>
            </a:pPr>
            <a:r>
              <a:t>로봇암 시뮬레이션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4A3B8"/>
                </a:solidFill>
                <a:latin typeface="Calibri"/>
              </a:defRPr>
            </a:pPr>
            <a:r>
              <a:t>두산 E0509 협동로봇 제어 GUI 프로젝트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1645920" cy="4114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182040"/>
            <a:ext cx="164592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00D4AA"/>
                </a:solidFill>
                <a:latin typeface="Calibri"/>
              </a:defRPr>
            </a:pPr>
            <a:r>
              <a:t>ROS2 Humble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4114800"/>
            <a:ext cx="1645920" cy="4114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80" y="4182040"/>
            <a:ext cx="164592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00D4AA"/>
                </a:solidFill>
                <a:latin typeface="Calibri"/>
              </a:defRPr>
            </a:pPr>
            <a:r>
              <a:rPr dirty="0"/>
              <a:t>PyQt5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4114800"/>
            <a:ext cx="1645920" cy="4114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4182040"/>
            <a:ext cx="164592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00D4AA"/>
                </a:solidFill>
                <a:latin typeface="Calibri"/>
              </a:defRPr>
            </a:pPr>
            <a:r>
              <a:t>Gazebo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114800"/>
            <a:ext cx="1645920" cy="4114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4182040"/>
            <a:ext cx="164592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00D4AA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03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Doosan Robotics  |  Collaborative Robot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383280" cy="21031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338328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obo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60020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59" y="21945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ROS2 시뮬레이션 제어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ROS2 환경에서 두산 E0509</a:t>
            </a:r>
            <a:br/>
            <a:r>
              <a:t>로봇암 시뮬레이션 제어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371600"/>
            <a:ext cx="3383280" cy="21031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06240" y="1371600"/>
            <a:ext cx="338328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acho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1600200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80559" y="21945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좌표 기반 이동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6060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사용자 입력 좌표로</a:t>
            </a:r>
            <a:br/>
            <a:r>
              <a:t>End-Effector 정밀 이동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371600"/>
            <a:ext cx="3383280" cy="21031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63840" y="1371600"/>
            <a:ext cx="338328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desktop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60020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38160" y="21945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직관적 GUI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6060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PyQt5 기반 GUI로</a:t>
            </a:r>
            <a:br/>
            <a:r>
              <a:t>직관적인 조작 인터페이스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개발 환경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2606040" cy="5029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64008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509775"/>
            <a:ext cx="22860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rPr dirty="0"/>
              <a:t>Ubuntu 22.04 + ROS2 Humble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4389120"/>
            <a:ext cx="2606040" cy="5029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37560" y="4389120"/>
            <a:ext cx="64008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20440" y="4509775"/>
            <a:ext cx="22860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Python 3.10 + PyQt5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4389120"/>
            <a:ext cx="2606040" cy="5029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126479" y="4389120"/>
            <a:ext cx="64008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9359" y="4509775"/>
            <a:ext cx="22860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Gazebo Simulation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15399" y="4389120"/>
            <a:ext cx="2606040" cy="5029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915399" y="4389120"/>
            <a:ext cx="64008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98279" y="4509775"/>
            <a:ext cx="22860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Doosan Emulator (Docker)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시스템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1188720"/>
            <a:ext cx="8229600" cy="5486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28800" y="1188720"/>
            <a:ext cx="9144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3120" y="126187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사용자 (GUI 입력)</a:t>
            </a:r>
          </a:p>
        </p:txBody>
      </p:sp>
      <p:pic>
        <p:nvPicPr>
          <p:cNvPr id="8" name="Picture 7" descr="arrowdow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755648"/>
            <a:ext cx="27432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0" y="2148840"/>
            <a:ext cx="8229600" cy="7315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828800" y="2148840"/>
            <a:ext cx="91440" cy="7315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03120" y="222199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MainWindow (PyQt5 GUI)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5328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좌표 입력 / 옵션 설정 / 상태 모니터링</a:t>
            </a:r>
          </a:p>
        </p:txBody>
      </p:sp>
      <p:pic>
        <p:nvPicPr>
          <p:cNvPr id="13" name="Picture 12" descr="arrowdow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898648"/>
            <a:ext cx="274320" cy="2743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828800" y="3236976"/>
            <a:ext cx="8229600" cy="7315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828800" y="3236976"/>
            <a:ext cx="9144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03120" y="331012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MoveThread (QThread)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62102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비동기 이동 명령 / 정지 플래그 감시</a:t>
            </a:r>
          </a:p>
        </p:txBody>
      </p:sp>
      <p:pic>
        <p:nvPicPr>
          <p:cNvPr id="18" name="Picture 17" descr="arrowdow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011168"/>
            <a:ext cx="274320" cy="27432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828800" y="4358640"/>
            <a:ext cx="8229600" cy="7315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828800" y="4358640"/>
            <a:ext cx="9144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03120" y="443179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RobotController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74268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MoveLine / MoveJoint / MoveStop / Ikin / Fkin / GetCurrentPosX</a:t>
            </a:r>
          </a:p>
        </p:txBody>
      </p:sp>
      <p:pic>
        <p:nvPicPr>
          <p:cNvPr id="23" name="Picture 22" descr="arrowdow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5161788"/>
            <a:ext cx="274320" cy="2743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1828800" y="5539740"/>
            <a:ext cx="8229600" cy="5486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828800" y="5539740"/>
            <a:ext cx="91440" cy="548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03120" y="561289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Doosan Emulator + Gazebo Simulation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GUI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TWO-COLUMN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42062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3035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g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4813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제어 패널 (Control)</a:t>
            </a:r>
          </a:p>
        </p:txBody>
      </p:sp>
      <p:pic>
        <p:nvPicPr>
          <p:cNvPr id="9" name="Picture 8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57400"/>
            <a:ext cx="201168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프리셋 위치 버튼 (홈, 전방, 좌측 등)</a:t>
            </a:r>
          </a:p>
        </p:txBody>
      </p:sp>
      <p:pic>
        <p:nvPicPr>
          <p:cNvPr id="11" name="Picture 10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96312"/>
            <a:ext cx="201168" cy="2011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24505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좌표 입력 (X, Y, Z, RX, RY, RZ)</a:t>
            </a:r>
          </a:p>
        </p:txBody>
      </p:sp>
      <p:pic>
        <p:nvPicPr>
          <p:cNvPr id="13" name="Picture 12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35224"/>
            <a:ext cx="201168" cy="2011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43000" y="28895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역기구학(Ikin) 검증 후 목록 추가</a:t>
            </a:r>
          </a:p>
        </p:txBody>
      </p:sp>
      <p:pic>
        <p:nvPicPr>
          <p:cNvPr id="15" name="Picture 14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74136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3284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좌표 목록 관리 (삭제, 저장, 불러오기)</a:t>
            </a:r>
          </a:p>
        </p:txBody>
      </p:sp>
      <p:pic>
        <p:nvPicPr>
          <p:cNvPr id="17" name="Picture 16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13048"/>
            <a:ext cx="201168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3767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옵션 설정 (절대/상대, 속도, 가속도)</a:t>
            </a:r>
          </a:p>
        </p:txBody>
      </p:sp>
      <p:pic>
        <p:nvPicPr>
          <p:cNvPr id="19" name="Picture 18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51959"/>
            <a:ext cx="201168" cy="2011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실행 / 정지 버튼</a:t>
            </a:r>
          </a:p>
        </p:txBody>
      </p:sp>
      <p:pic>
        <p:nvPicPr>
          <p:cNvPr id="21" name="Picture 20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690872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3000" y="46451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이전 위치 복귀 / 홈 복귀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280160"/>
            <a:ext cx="5303520" cy="42062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280160"/>
            <a:ext cx="530352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eye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63040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03720" y="14813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상태 모니터링 (Monitoring)</a:t>
            </a:r>
          </a:p>
        </p:txBody>
      </p:sp>
      <p:pic>
        <p:nvPicPr>
          <p:cNvPr id="27" name="Picture 26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057400"/>
            <a:ext cx="201168" cy="2011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2279" y="2011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로봇 연결 상태 표시</a:t>
            </a:r>
          </a:p>
        </p:txBody>
      </p:sp>
      <p:pic>
        <p:nvPicPr>
          <p:cNvPr id="29" name="Picture 28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496312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12279" y="245059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동작 상태 (대기/이동중/완료/정지/오류)</a:t>
            </a:r>
          </a:p>
        </p:txBody>
      </p:sp>
      <p:pic>
        <p:nvPicPr>
          <p:cNvPr id="31" name="Picture 30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935224"/>
            <a:ext cx="201168" cy="20116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12279" y="288950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관절 각도 (J1~J6, degree)</a:t>
            </a:r>
          </a:p>
        </p:txBody>
      </p:sp>
      <p:pic>
        <p:nvPicPr>
          <p:cNvPr id="33" name="Picture 32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374136"/>
            <a:ext cx="201168" cy="2011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812279" y="33284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End-Effector 위치 (X, Y, Z mm)</a:t>
            </a:r>
          </a:p>
        </p:txBody>
      </p:sp>
      <p:pic>
        <p:nvPicPr>
          <p:cNvPr id="35" name="Picture 34" descr="check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813048"/>
            <a:ext cx="201168" cy="201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812279" y="3767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실시간 로그 출력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5721355"/>
            <a:ext cx="105156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00D4AA"/>
                </a:solidFill>
                <a:latin typeface="Calibri"/>
              </a:defRPr>
            </a:pPr>
            <a:r>
              <a:rPr dirty="0"/>
              <a:t>※ </a:t>
            </a:r>
            <a:r>
              <a:rPr dirty="0" err="1"/>
              <a:t>상단</a:t>
            </a:r>
            <a:r>
              <a:rPr dirty="0"/>
              <a:t> </a:t>
            </a:r>
            <a:r>
              <a:rPr dirty="0" err="1"/>
              <a:t>상태바로</a:t>
            </a:r>
            <a:r>
              <a:rPr dirty="0"/>
              <a:t>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요약</a:t>
            </a:r>
            <a:r>
              <a:rPr dirty="0"/>
              <a:t> — </a:t>
            </a:r>
            <a:r>
              <a:rPr dirty="0" err="1"/>
              <a:t>연결</a:t>
            </a:r>
            <a:r>
              <a:rPr dirty="0"/>
              <a:t> </a:t>
            </a:r>
            <a:r>
              <a:rPr dirty="0" err="1"/>
              <a:t>상태</a:t>
            </a:r>
            <a:r>
              <a:rPr dirty="0"/>
              <a:t>, </a:t>
            </a:r>
            <a:r>
              <a:rPr dirty="0" err="1"/>
              <a:t>동작</a:t>
            </a:r>
            <a:r>
              <a:rPr dirty="0"/>
              <a:t> </a:t>
            </a:r>
            <a:r>
              <a:rPr dirty="0" err="1"/>
              <a:t>상태</a:t>
            </a:r>
            <a:r>
              <a:rPr dirty="0"/>
              <a:t>, </a:t>
            </a:r>
            <a:r>
              <a:rPr dirty="0" err="1"/>
              <a:t>현재</a:t>
            </a:r>
            <a:r>
              <a:rPr dirty="0"/>
              <a:t> </a:t>
            </a:r>
            <a:r>
              <a:rPr dirty="0" err="1"/>
              <a:t>위치를</a:t>
            </a:r>
            <a:r>
              <a:rPr dirty="0"/>
              <a:t> </a:t>
            </a:r>
            <a:r>
              <a:rPr dirty="0" err="1"/>
              <a:t>한눈에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</p:txBody>
      </p:sp>
      <p:sp>
        <p:nvSpPr>
          <p:cNvPr id="39" name="TextBox 38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주요 기능 — 동작 프로세스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6872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목표 좌표 입력</a:t>
            </a:r>
            <a:br/>
            <a:r>
              <a:t>(X, Y, Z, RX, RY, RZ)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23444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26280" y="141732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6872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Ikin 검증</a:t>
            </a:r>
            <a:br/>
            <a:r>
              <a:t>도달 가능 여부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23444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21040" y="141732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146872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137160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검증 통과 시</a:t>
            </a:r>
            <a:br/>
            <a:r>
              <a:t>좌표 목록에 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2834640"/>
            <a:ext cx="502920" cy="5029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288604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7889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'실행' 클릭</a:t>
            </a:r>
            <a:br/>
            <a:r>
              <a:t>MoveThread 시작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65176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26280" y="2834640"/>
            <a:ext cx="502920" cy="5029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26280" y="288604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7889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MoveLine 서비스</a:t>
            </a:r>
            <a:br/>
            <a:r>
              <a:t>순차 이동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265176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21040" y="2834640"/>
            <a:ext cx="502920" cy="5029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288604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78892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실시간 상태 업데이트</a:t>
            </a:r>
            <a:br/>
            <a:r>
              <a:t>(FK 계산)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06908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430336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19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목표 도달 확인</a:t>
            </a:r>
            <a:br/>
            <a:r>
              <a:t>(5mm 오차 허용)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406908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526280" y="4251960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26280" y="430336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'정지' 클릭</a:t>
            </a:r>
            <a:br/>
            <a:r>
              <a:t>MoveStop 즉시 정지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069080"/>
            <a:ext cx="3520440" cy="118872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321040" y="425196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4303365"/>
            <a:ext cx="5029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 Black"/>
              </a:defRPr>
            </a:pPr>
            <a: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206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'복귀' 클릭</a:t>
            </a:r>
            <a:br/>
            <a:r>
              <a:t>이전 위치로 이동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532120"/>
            <a:ext cx="10972800" cy="594360"/>
          </a:xfrm>
          <a:prstGeom prst="rect">
            <a:avLst/>
          </a:prstGeom>
          <a:solidFill>
            <a:srgbClr val="1C1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" y="5532120"/>
            <a:ext cx="73152" cy="5943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x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596128"/>
            <a:ext cx="320040" cy="3200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234440" y="555955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Calibri"/>
              </a:defRPr>
            </a:pPr>
            <a:r>
              <a:t>Ikin 검증 실패 시: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34440" y="5833872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좌표 추가 거부 + 로그에 사유 표시 (도달 불가 / 서비스 타임아웃 / 호출 실패)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주요 기능 — 좌표 입력 및 옵션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COORDINATE INPUT &amp;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3383280" cy="32918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338328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eyboard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좌표 입력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2926080" cy="8686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위치 (Position)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X, Y, Z (mm)</a:t>
            </a:r>
            <a:br/>
            <a:r>
              <a:t>Base 좌표계 기준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2926080" cy="8686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자세 (Orientation)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37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RX, RY, RZ (degree)</a:t>
            </a:r>
            <a:br/>
            <a:r>
              <a:t>Roll, Pitch, Yaw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280160"/>
            <a:ext cx="3383280" cy="32918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06240" y="1280160"/>
            <a:ext cx="338328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cog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463040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9204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좌표 모드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011680"/>
            <a:ext cx="2926080" cy="8686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0" y="2057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절대 좌표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317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로봇 베이스 기준 위치</a:t>
            </a:r>
            <a:br/>
            <a:r>
              <a:t>입력값 = 최종 목표 좌표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017520"/>
            <a:ext cx="2926080" cy="118872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0" y="30632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상대 좌표 (누적 방식)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3375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현재 EE 위치 기준 오프셋</a:t>
            </a:r>
            <a:br/>
            <a:r>
              <a:t>각 좌표의 기준 = 직전 이동</a:t>
            </a:r>
            <a:br/>
            <a:r>
              <a:t>완료 위치 (순차 누적)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1280160"/>
            <a:ext cx="3383280" cy="32918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863840" y="1280160"/>
            <a:ext cx="338328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tacho_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463040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49640" y="1481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프리셋 / 옵션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2011680"/>
            <a:ext cx="292608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20116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홈 / 전방 / 좌측 / 우측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92440" y="2514600"/>
            <a:ext cx="292608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0" y="25146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높음 / 낮음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3017520"/>
            <a:ext cx="292608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0" y="30175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속도 (mm/s)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3520440"/>
            <a:ext cx="292608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0" y="3520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가속도 (mm/s²)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46320"/>
            <a:ext cx="10972800" cy="10515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8640" y="484632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nfo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19472"/>
            <a:ext cx="320040" cy="3200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34440" y="48920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상대 좌표 모드 예시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21208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현재 위치 (350, 0, 400)에서 상대 좌표 실행 시: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" y="5486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좌표1 (+50, +100, 0) → (400, 100, 400)    좌표2 (0, -50, +100) → (400, 50, 500)   ← 직전 완료 위치 기준 누적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주요 기능 — 안전 및 편의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SAFETY &amp; UTILITY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402336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30352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hield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41148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490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안전 기능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4846320" cy="8229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top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286000"/>
            <a:ext cx="41148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08760" y="21762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정지 버튼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420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MoveStop 서비스로 즉시 정지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108960"/>
            <a:ext cx="4846320" cy="8229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undo_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291840"/>
            <a:ext cx="41148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08760" y="318211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이전 위치 복귀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4787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마지막 도달 위치로 안전 복귀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4800"/>
            <a:ext cx="4846320" cy="8229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home_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976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08760" y="418795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홈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55371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작업 자세(싱귤러리티 회피)로 이동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280160"/>
            <a:ext cx="5303520" cy="402336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280160"/>
            <a:ext cx="53035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wrench_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1463040"/>
            <a:ext cx="411480" cy="4114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49440" y="1490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편의 기능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2103120"/>
            <a:ext cx="4846320" cy="8229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sav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2286000"/>
            <a:ext cx="411480" cy="4114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178040" y="21762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좌표 저장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5420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JSON 파일로 좌표 목록 저장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108960"/>
            <a:ext cx="4846320" cy="8229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folder_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3291840"/>
            <a:ext cx="411480" cy="4114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178040" y="318211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좌표 불러오기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354787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저장된 파일에서 좌표 복원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robot_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4297680"/>
            <a:ext cx="411480" cy="4114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178040" y="418795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작업 자세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455371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Ready Position으로 이동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에러 핸들링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ERROR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3566160" cy="47548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356616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warn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14813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연결 관련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Calibri"/>
              </a:defRPr>
            </a:pPr>
            <a:r>
              <a:t>에뮬레이터 미연결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joint_states 3초 미수신 시</a:t>
            </a:r>
            <a:br/>
            <a:r>
              <a:t>상태바 "연결 끊김" 표시</a:t>
            </a:r>
            <a:br/>
            <a:r>
              <a:t>이동 명령 비활성화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9184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3649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F4444"/>
                </a:solidFill>
                <a:latin typeface="Calibri"/>
              </a:defRPr>
            </a:pPr>
            <a:r>
              <a:t>연결 복구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토픽 수신 재개 시</a:t>
            </a:r>
            <a:br/>
            <a:r>
              <a:t>자동 "연결됨"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280160"/>
            <a:ext cx="3566160" cy="47548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06240" y="1280160"/>
            <a:ext cx="356616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warn_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463040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46320" y="14813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서비스 호출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01168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80560" y="20848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서비스 타임아웃 (5s)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377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호출 중단</a:t>
            </a:r>
            <a:br/>
            <a:r>
              <a:t>해당 좌표 건너뜀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29184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33649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Ikin 검증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6576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좌표 추가 거부</a:t>
            </a:r>
            <a:br/>
            <a:r>
              <a:t>사유별 에러 로그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57200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80560" y="46451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  <a:latin typeface="Calibri"/>
              </a:defRPr>
            </a:pPr>
            <a:r>
              <a:t>MoveLine 실패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9377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다음 좌표 진행</a:t>
            </a:r>
            <a:br/>
            <a:r>
              <a:t>상태 "오류" 표시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1280160"/>
            <a:ext cx="3566160" cy="47548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46720" y="1280160"/>
            <a:ext cx="356616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bolt_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463040"/>
            <a:ext cx="365760" cy="3657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686800" y="14813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스레드 관련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80" y="201168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20848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MoveThread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3774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error 시그널 emit</a:t>
            </a:r>
            <a:br/>
            <a:r>
              <a:t>스레드 안전 종료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80" y="329184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21040" y="33649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정지 요청 중 대기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36576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플래그 확인 → MoveStop</a:t>
            </a:r>
            <a:br/>
            <a:r>
              <a:t>→ 스레드 종료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80" y="4572000"/>
            <a:ext cx="3291840" cy="10972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46451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GUI 종료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9377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wait() 호출로</a:t>
            </a:r>
            <a:br/>
            <a:r>
              <a:t>스레드 완료 대기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기술 스택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42062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30352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ubes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4813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Core Technologies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011680"/>
            <a:ext cx="4846320" cy="43891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057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ROS2 Humble Hawksbill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78608"/>
            <a:ext cx="4846320" cy="43891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624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62432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Python 3.10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45536"/>
            <a:ext cx="4846320" cy="43891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1912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GUI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9125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PyQt5 5.15+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712464"/>
            <a:ext cx="4846320" cy="43891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7581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75818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Gazebo Simulation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279392"/>
            <a:ext cx="4846320" cy="43891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32511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3251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Doosan Emulator (Docker)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1280160"/>
            <a:ext cx="5303520" cy="420624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17920" y="1280160"/>
            <a:ext cx="53035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net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63040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03720" y="14813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ROS2 Services / Topics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1965960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198424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/dsr01/motion/move_line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16712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직선 이동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2468880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248716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/dsr01/motion/move_joint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67004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관절 이동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2971800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0" y="299008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/dsr01/motion/move_stop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17296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정지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6520" y="3474720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0" y="349300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/dsr01/motion/ikin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675887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역기구학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3977639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83680" y="3995927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/dsr01/motion/fkin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178807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순기구학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4480560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3680" y="449884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/dsr01/aux_control/get_current_posx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68172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현재 위치 조회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520" y="4983480"/>
            <a:ext cx="4846320" cy="38404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83680" y="500176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4AA"/>
                </a:solidFill>
                <a:latin typeface="Consolas"/>
              </a:defRPr>
            </a:pPr>
            <a:r>
              <a:t>/dsr01/joint_states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518464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관절 상태 (Topic)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스레드 구조 (QThread)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THREADING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029200" cy="38404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02920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메인 스레드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AA"/>
                </a:solidFill>
                <a:latin typeface="Calibri"/>
              </a:defRPr>
            </a:pPr>
            <a:r>
              <a:t>Qt Event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457200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04872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23591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GUI 이벤트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517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사용자 입력 및 인터페이스 반응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108960"/>
            <a:ext cx="457200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27832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34440" y="31821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ROS2 spin_once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747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QTimer 10ms 주기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31920"/>
            <a:ext cx="457200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50791"/>
            <a:ext cx="201168" cy="2011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34440" y="40050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상태 업데이트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297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QTimer 1000ms 주기</a:t>
            </a:r>
          </a:p>
        </p:txBody>
      </p:sp>
      <p:pic>
        <p:nvPicPr>
          <p:cNvPr id="21" name="Picture 20" descr="exchange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926080"/>
            <a:ext cx="594360" cy="59436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17920" y="1280160"/>
            <a:ext cx="5303520" cy="38404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1280160"/>
            <a:ext cx="530352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4652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MoveThread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18288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D4AA"/>
                </a:solidFill>
                <a:latin typeface="Calibri"/>
              </a:defRPr>
            </a:pPr>
            <a:r>
              <a:t>Worker Thread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286000"/>
            <a:ext cx="4846320" cy="53035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377439"/>
            <a:ext cx="201168" cy="2011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03720" y="23317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좌표 목록 순회 및 이동 명령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578608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목록 내 좌표를 순차적으로 실행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2944368"/>
            <a:ext cx="4846320" cy="53035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35807"/>
            <a:ext cx="201168" cy="20116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03720" y="2990087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서비스 응답 폴링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236975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이동 완료 여부 확인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46520" y="3602736"/>
            <a:ext cx="4846320" cy="53035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694176"/>
            <a:ext cx="201168" cy="201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03720" y="364845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정지 플래그 감시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895344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사용자 정지 요청 즉시 반응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4261104"/>
            <a:ext cx="4846320" cy="530352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4352544"/>
            <a:ext cx="201168" cy="201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903720" y="430682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목표 도달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4553712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FK로 현재 위치 계산 후 비교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패키지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PACKAGE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6583680" cy="411480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658368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older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onsolas"/>
              </a:defRPr>
            </a:pPr>
            <a:r>
              <a:t>my_ros2_assignment/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├── package.xml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95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├── setup.py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97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├── setup.cfg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└── my_ros2_assignment/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478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├── main_node.py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5478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ROS2 노드 + Qt 통합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931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├── gui/main_window.py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PyQt5 GUI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3159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├── robot/controller.py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3159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로봇 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000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onsolas"/>
              </a:defRPr>
            </a:pPr>
            <a:r>
              <a:t>└── threads/move_thread.py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0001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이동 스레드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280160"/>
            <a:ext cx="3931920" cy="411480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1280160"/>
            <a:ext cx="39319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146304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모듈 역할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1965960"/>
            <a:ext cx="347472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26679" y="1965960"/>
            <a:ext cx="64008" cy="65836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09560" y="2011679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onsolas"/>
              </a:defRPr>
            </a:pPr>
            <a:r>
              <a:t>main_node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22677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ROS2 노드 초기화</a:t>
            </a:r>
            <a:br/>
            <a:r>
              <a:t>Qt 이벤트 루프 통합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79" y="2770632"/>
            <a:ext cx="347472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726679" y="2770632"/>
            <a:ext cx="64008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09560" y="2816351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Consolas"/>
              </a:defRPr>
            </a:pPr>
            <a:r>
              <a:t>main_window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30723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전체 GUI 레이아웃</a:t>
            </a:r>
            <a:br/>
            <a:r>
              <a:t>이벤트 핸들링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79" y="3575304"/>
            <a:ext cx="347472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726679" y="3575304"/>
            <a:ext cx="64008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09560" y="3621024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Consolas"/>
              </a:defRPr>
            </a:pPr>
            <a:r>
              <a:t>controller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38770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ROS2 서비스 호출</a:t>
            </a:r>
            <a:br/>
            <a:r>
              <a:t>로봇 상태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26679" y="4379976"/>
            <a:ext cx="3474720" cy="658368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26679" y="4379976"/>
            <a:ext cx="64008" cy="6583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09560" y="4425696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6B6D4"/>
                </a:solidFill>
                <a:latin typeface="Consolas"/>
              </a:defRPr>
            </a:pPr>
            <a:r>
              <a:t>move_thread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4681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Calibri"/>
              </a:defRPr>
            </a:pPr>
            <a:r>
              <a:t>비동기 이동 처리</a:t>
            </a:r>
            <a:br/>
            <a:r>
              <a:t>정지/완료 관리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577840"/>
            <a:ext cx="1097280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terminal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623560"/>
            <a:ext cx="274320" cy="2743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43000" y="55778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AA"/>
                </a:solidFill>
                <a:latin typeface="Consolas"/>
              </a:defRPr>
            </a:pPr>
            <a:r>
              <a:t>$ ros2 run my_ros2_assignment robot_gui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성능 테스트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PERFORMANCE 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486400" cy="47548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48640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ullseye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44475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위치 정확도 (5좌표 × 3회 반복)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20240"/>
            <a:ext cx="20116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88920" y="1920240"/>
            <a:ext cx="146304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920240"/>
            <a:ext cx="146304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목표 좌표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평균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920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최대 오차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267712"/>
            <a:ext cx="201168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88920" y="2267712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2267712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2677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(350, 0, 400)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2677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0.03 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2677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0.05 mm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615184"/>
            <a:ext cx="201168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88920" y="2615184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2615184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2615184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(400, 100, 300)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26151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0.02 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26151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0.04 mm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962656"/>
            <a:ext cx="201168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88920" y="2962656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80" y="2962656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2962656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(300, -100, 500)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29626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0.04 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29626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0.06 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3310128"/>
            <a:ext cx="201168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88920" y="3310128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3310128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3310128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(450, 50, 250)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3101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0.04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3101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0.05 mm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3657600"/>
            <a:ext cx="201168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788920" y="3657600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297680" y="3657600"/>
            <a:ext cx="1463040" cy="32004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3657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(350, -50, 350)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3657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0.03 mm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657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8ECF1"/>
                </a:solidFill>
                <a:latin typeface="Calibri"/>
              </a:defRPr>
            </a:pPr>
            <a:r>
              <a:t>0.04 mm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4114800"/>
            <a:ext cx="5029200" cy="594360"/>
          </a:xfrm>
          <a:prstGeom prst="rect">
            <a:avLst/>
          </a:prstGeom>
          <a:solidFill>
            <a:srgbClr val="0D3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41148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Calibri"/>
              </a:defRPr>
            </a:pPr>
            <a:r>
              <a:t>평균 오차 0.04mm 이내  |  최대 오차 0.06mm 이내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44348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설정 허용 오차 5mm 대비 충분한 정밀도 (시뮬레이션 환경)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4892040"/>
            <a:ext cx="5029200" cy="6400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8680" y="491947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연속 이동 (5좌표, ~800mm)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2120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ECF1"/>
                </a:solidFill>
                <a:latin typeface="Calibri"/>
              </a:defRPr>
            </a:pPr>
            <a:r>
              <a:t>총 ~9.2초  |  성공률 100% (15/15)  |  큐 오류 0회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1280160"/>
            <a:ext cx="5120640" cy="475488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400800" y="1280160"/>
            <a:ext cx="512064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Picture 52" descr="clock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417320"/>
            <a:ext cx="365760" cy="36576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086600" y="14447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응답 시간 측정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1920240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20840" y="194767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GUI → MoveLine 호출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52560" y="194767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~15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2148840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서비스 요청 전송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0" y="2450592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20840" y="2478024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MoveLine 응답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2478024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~50 ms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679192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명령 접수 (이동 완료 아님)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0" y="2980944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20840" y="3008375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MoveStop 반응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52560" y="3008375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~100 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3209544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정지 명령 → 실제 정지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83680" y="3511296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720840" y="3538727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Ikin 검증 응답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3538727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~30 ms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3739896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역기구학 계산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83680" y="4041648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720840" y="4069080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상태 업데이트 주기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52560" y="406908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1,000 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4270248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에뮬레이터 부하 방지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83680" y="4572000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720840" y="459943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ROS2 spin_once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2560" y="45994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10 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4800600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Qt 이벤트 루프 통합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83680" y="5102352"/>
            <a:ext cx="4754880" cy="41148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720840" y="5129784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8ECF1"/>
                </a:solidFill>
                <a:latin typeface="Calibri"/>
              </a:defRPr>
            </a:pPr>
            <a:r>
              <a:t>좌표 간 전환 지연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52560" y="5129784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onsolas"/>
              </a:defRPr>
            </a:pPr>
            <a:r>
              <a:t>~200 ms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5330952"/>
            <a:ext cx="4572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순차 이동 시 전환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83680" y="5669280"/>
            <a:ext cx="4754880" cy="27432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75120" y="5669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Calibri"/>
              </a:defRPr>
            </a:pPr>
            <a:r>
              <a:t>※ 시뮬레이션 환경 측정값 (실 로봇 환경과 상이할 수 있음)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데모 — GUI 동작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DEMO SCREENSHOT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1051560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humb_30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332720" cy="4434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solidFill>
            <a:srgbClr val="0D28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5988050"/>
            <a:ext cx="1033272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0">
                <a:solidFill>
                  <a:srgbClr val="00D4AA"/>
                </a:solidFill>
                <a:latin typeface="Calibri"/>
              </a:defRPr>
            </a:pPr>
            <a:r>
              <a:rPr dirty="0"/>
              <a:t>Gazebo </a:t>
            </a:r>
            <a:r>
              <a:rPr dirty="0" err="1"/>
              <a:t>시뮬레이션</a:t>
            </a:r>
            <a:r>
              <a:rPr dirty="0"/>
              <a:t> + PyQt5 GUI </a:t>
            </a:r>
            <a:r>
              <a:rPr dirty="0" err="1"/>
              <a:t>제어</a:t>
            </a:r>
            <a:r>
              <a:rPr dirty="0"/>
              <a:t> </a:t>
            </a:r>
            <a:r>
              <a:rPr dirty="0" err="1"/>
              <a:t>화면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 Black"/>
              </a:defRPr>
            </a:pPr>
            <a:r>
              <a:t>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03520" cy="457200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303520" cy="6400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구현 완료 사항</a:t>
            </a:r>
          </a:p>
        </p:txBody>
      </p:sp>
      <p:pic>
        <p:nvPicPr>
          <p:cNvPr id="8" name="Picture 7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11679"/>
            <a:ext cx="201168" cy="201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19" y="1965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PyQt5 GUI (코드 직접 구현, 2열 레이아웃)</a:t>
            </a:r>
          </a:p>
        </p:txBody>
      </p:sp>
      <p:pic>
        <p:nvPicPr>
          <p:cNvPr id="10" name="Picture 9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542032"/>
            <a:ext cx="201168" cy="201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19" y="24963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좌표 입력 및 목록 관리</a:t>
            </a:r>
          </a:p>
        </p:txBody>
      </p:sp>
      <p:pic>
        <p:nvPicPr>
          <p:cNvPr id="12" name="Picture 11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72383"/>
            <a:ext cx="201168" cy="201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88719" y="3026663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절대/상대 좌표, 속도/가속도 설정</a:t>
            </a:r>
          </a:p>
        </p:txBody>
      </p:sp>
      <p:pic>
        <p:nvPicPr>
          <p:cNvPr id="14" name="Picture 13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602735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88719" y="3557015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별도 스레드(QThread)로 이동 처리</a:t>
            </a:r>
          </a:p>
        </p:txBody>
      </p:sp>
      <p:pic>
        <p:nvPicPr>
          <p:cNvPr id="16" name="Picture 15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33087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19" y="408736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ECF1"/>
                </a:solidFill>
                <a:latin typeface="Calibri"/>
              </a:defRPr>
            </a:pPr>
            <a:r>
              <a:t>실시간 상태 모니터링</a:t>
            </a:r>
            <a:br/>
            <a:r>
              <a:t>(연결, 관절, 위치, 로그)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80160"/>
            <a:ext cx="5303520" cy="4572000"/>
          </a:xfrm>
          <a:prstGeom prst="rect">
            <a:avLst/>
          </a:prstGeom>
          <a:solidFill>
            <a:srgbClr val="1A2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53035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1463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추가 구현 기능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96596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안전 기능</a:t>
            </a:r>
          </a:p>
        </p:txBody>
      </p:sp>
      <p:pic>
        <p:nvPicPr>
          <p:cNvPr id="22" name="Picture 21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31720"/>
            <a:ext cx="201168" cy="2011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858000" y="2286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정지 (MoveStop)</a:t>
            </a:r>
          </a:p>
        </p:txBody>
      </p:sp>
      <p:pic>
        <p:nvPicPr>
          <p:cNvPr id="24" name="Picture 23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15768"/>
            <a:ext cx="201168" cy="2011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858000" y="26700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이전 위치 복귀</a:t>
            </a:r>
          </a:p>
        </p:txBody>
      </p:sp>
      <p:pic>
        <p:nvPicPr>
          <p:cNvPr id="26" name="Picture 25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099815"/>
            <a:ext cx="201168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58000" y="30540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홈 복귀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52044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편의 기능</a:t>
            </a:r>
          </a:p>
        </p:txBody>
      </p:sp>
      <p:pic>
        <p:nvPicPr>
          <p:cNvPr id="29" name="Picture 28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886200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58000" y="3840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좌표 저장/불러오기 (JSON)</a:t>
            </a:r>
          </a:p>
        </p:txBody>
      </p:sp>
      <p:pic>
        <p:nvPicPr>
          <p:cNvPr id="31" name="Picture 30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270248"/>
            <a:ext cx="201168" cy="20116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858000" y="42245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프리셋 위치 (6종)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709160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에러 핸들링 / 성능 검증</a:t>
            </a:r>
          </a:p>
        </p:txBody>
      </p:sp>
      <p:pic>
        <p:nvPicPr>
          <p:cNvPr id="34" name="Picture 33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5074920"/>
            <a:ext cx="201168" cy="20116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58000" y="5029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체계적 에러 핸들링 (연결/서비스/스레드)</a:t>
            </a:r>
          </a:p>
        </p:txBody>
      </p:sp>
      <p:pic>
        <p:nvPicPr>
          <p:cNvPr id="36" name="Picture 35" descr="chec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5458968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858000" y="5413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ECF1"/>
                </a:solidFill>
                <a:latin typeface="Calibri"/>
              </a:defRPr>
            </a:pPr>
            <a:r>
              <a:t>위치 정확도 0.06mm 이내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3093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Calibri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548640"/>
            <a:ext cx="64008" cy="53035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obot_a_b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011680" cy="2011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20116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000" b="1">
                <a:solidFill>
                  <a:srgbClr val="FFFFFF"/>
                </a:solidFill>
                <a:latin typeface="Arial Black"/>
              </a:defRPr>
            </a:pPr>
            <a:r>
              <a:t>감사합니다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4AA"/>
                </a:solidFill>
                <a:latin typeface="Arial Black"/>
              </a:defRPr>
            </a:pPr>
            <a:r>
              <a:t>Q &amp;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7548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ROS2 로봇암 시뮬레이션  |  두산 E0509 협동로봇 제어 GUI 프로젝트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1378</Words>
  <Application>Microsoft Office PowerPoint</Application>
  <PresentationFormat>와이드스크린</PresentationFormat>
  <Paragraphs>286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gridone</dc:creator>
  <cp:keywords/>
  <dc:description>generated using python-pptx</dc:description>
  <cp:lastModifiedBy>김진주</cp:lastModifiedBy>
  <cp:revision>2</cp:revision>
  <dcterms:created xsi:type="dcterms:W3CDTF">2013-01-27T09:14:16Z</dcterms:created>
  <dcterms:modified xsi:type="dcterms:W3CDTF">2026-02-19T15:27:32Z</dcterms:modified>
  <cp:category/>
</cp:coreProperties>
</file>